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29000" cy="914400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0" y="914400"/>
            <a:ext cx="2496312" cy="502920"/>
          </a:xfrm>
          <a:prstGeom prst="rect">
            <a:avLst/>
          </a:prstGeom>
          <a:solidFill>
            <a:srgbClr val="F2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20" y="1417320"/>
            <a:ext cx="1856231" cy="457200"/>
          </a:xfrm>
          <a:prstGeom prst="rect">
            <a:avLst/>
          </a:prstGeom>
          <a:solidFill>
            <a:srgbClr val="2A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BEDCEF"/>
                </a:solidFill>
                <a:latin typeface="Aptos"/>
              </a:defRPr>
            </a:pPr>
            <a:r>
              <a:t>DATABASE MANAGEMENT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9784080" cy="1600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Database Normalisation</a:t>
            </a:r>
            <a:br/>
            <a:r>
              <a:t>&amp; Database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9476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000" b="0">
                <a:solidFill>
                  <a:srgbClr val="D2E6F2"/>
                </a:solidFill>
                <a:latin typeface="Aptos"/>
              </a:defRPr>
            </a:pPr>
            <a:r>
              <a:t>Simple explanations • Practical tables • SQL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7772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Group members: 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30952"/>
            <a:ext cx="7772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Course / class: 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UCU Library 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What this presentation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•  Part A: normalisation, anomalies, functional dependencies, 1NF, 2NF, 3NF and higher normal forms.</a:t>
            </a:r>
          </a:p>
          <a:p>
            <a:pPr>
              <a:spcAft>
                <a:spcPts val="10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•  Part B: database constraints and how SQL uses them to protect data.</a:t>
            </a:r>
          </a:p>
          <a:p>
            <a:pPr>
              <a:spcAft>
                <a:spcPts val="10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•  A practical university-registration example, followed by a comparison.</a:t>
            </a:r>
          </a:p>
          <a:p>
            <a:pPr>
              <a:spcAft>
                <a:spcPts val="10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•  The aim is to understand the ideas and explain them in our own words—not just read definitions.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B8C8A"/>
                </a:solidFill>
                <a:latin typeface="Aptos"/>
              </a:defRPr>
            </a:pPr>
            <a:r>
              <a:t>Presentation guide: aim for about 15–20 minutes, including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What is database normalisation?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Normalisation is the process of organising data into related tables so that information is stored in sensible places.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It reduces unnecessary repetition and makes the database easier to maintain.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Think of a student’s name being copied into every course record: if the name changes, many rows may need editing.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 normalised design stores each fact in the right place and connects tables using keys.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B8C8A"/>
                </a:solidFill>
                <a:latin typeface="Aptos"/>
              </a:defRPr>
            </a:pPr>
            <a:r>
              <a:t>In simple words: keep each fact in the right place and avoid repeating it unnecessarily.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Why normalisation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Less repeated data: the same lecturer or student details do not need to be typed many times.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More consistent information: a change can be made in one main place.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Fewer mistakes: it reduces the chance that different rows show different details for the same person.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Easier maintenance: the database is clearer when it grows.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Normalisation mainly addresses poor table design; it does not automatically prove that every value entered is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Three database anomalies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106423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834640"/>
                <a:gridCol w="3749039"/>
                <a:gridCol w="3337560"/>
              </a:tblGrid>
              <a:tr h="113157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Anomaly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happens?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Simple example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normalisation helps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Insertion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You cannot add one fact without another unrelated fact.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 new course cannot be recorded until a student registers for it.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Store course details in a separate Course table.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Update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The same fact must be changed in several rows.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 lecturer’s office is repeated in 30 rows; one row is forgotten.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Keep lecturer details once and refer to the lecturer by ID.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Deletion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Removing one record accidentally removes another useful fact.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Deleting the last student on a course also removes the only copy of the course details.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Store student registrations and course details separately.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Anomalies are warning signs that a table is mixing different kinds of 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Functional dependency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 functional dependency means one attribute (or group of attributes) determines another attribute.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If we know a StudentID, we should be able to identify that student’s name in the student table.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The determinant is the attribute on the left; the dependent attribute is on the right.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Written as: StudentID → StudentName.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Dependencies should be based on the real rules of the organisation, not guesses from a few sample 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Functional dependency: two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  <a:gridCol w="4297680"/>
              </a:tblGrid>
              <a:tr h="113157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Dependency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Determinant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Dependent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makes sense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→ StudentName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Each student ID belongs to one student name in this example.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CourseID → CourseTitle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CourseID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CourseTitle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 course ID identifies one course title.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(StudentID, CourseID) → Grade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+ CourseID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Grade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 grade belongs to a particular student in a particular course.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To identify dependencies, ask: “If I know this value, can I reliably know the other value?”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First Normal Form (1NF)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 table is in 1NF when each cell holds one value, not a list of values.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Each row should be identifiable, and columns should contain values of the same kind.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 list of several courses inside one Courses cell breaks the one-value-per-cell rule.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To fix it, place each student-course registration on its own row, or use a separate registration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Example: table before and after 1NF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149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5486400"/>
              </a:tblGrid>
              <a:tr h="150876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 1NF: StudentID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Courses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150876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Database, Networking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Programming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Problem: the Courses cell for S01 contains two values. The next slide shows the 1NF 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The same data in 1NF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149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34640"/>
                <a:gridCol w="5120640"/>
              </a:tblGrid>
              <a:tr h="113157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StudentID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Course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Database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Networking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Programming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Each cell now contains one value. However, student names are repeated, so we can improve the design further.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Second Normal Form (2NF)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table is in 2NF when it is already in 1NF and every non-key attribute depends on the whole candidate key.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partial dependency happens when a non-key attribute depends on only part of a combined key.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This matters when a row is identified by two values, such as StudentID + CourseID.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For example, StudentName depends on StudentID alone—not on the full StudentID + CourseID key.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The fix is to separate student details from registration details.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From 1NF to 2NF: identify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9144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2194560"/>
                <a:gridCol w="2743200"/>
                <a:gridCol w="1280160"/>
              </a:tblGrid>
              <a:tr h="113157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StudentID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CourseID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CourseTitle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Grade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C10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Databases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C20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Networking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C10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Databases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Assume the combined key is (StudentID, CourseID). StudentName depends only on StudentID; CourseTitle depends only on CourseID.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The 2NF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332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331720"/>
                <a:gridCol w="2331720"/>
                <a:gridCol w="1828800"/>
              </a:tblGrid>
              <a:tr h="90525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 table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 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REGISTRATION table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 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COURSE table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(PK)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(PK/FK)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CourseID (PK/FK)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CourseID (PK)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C10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C10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C20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C20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C10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Store student names in STUDENT, course titles in COURSE, and the student-course link plus grade in REGISTRATION.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Third Normal Form (3NF)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table is in 3NF when it is in 2NF and non-key attributes do not depend on other non-key attributes.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transitive dependency is when a key determines one non-key attribute, which then determines another non-key attribute.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Example: StudentID → DepartmentID and DepartmentID → DepartmentName.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If DepartmentName is stored in every student row, the department name is repeated.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Move department details into a separate DEPARTMENT table and keep DepartmentID in STUDENT.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From 2NF to 3NF: remove transitive dependency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95097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194560"/>
                <a:gridCol w="3017520"/>
              </a:tblGrid>
              <a:tr h="113157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Before: STUDENT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DepartmentID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DepartmentName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Computing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Computing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Carol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D02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Business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DepartmentName depends on DepartmentID, not directly on StudentID. Keeping it here repeats department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The 3NF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058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  <a:gridCol w="2468880"/>
                <a:gridCol w="2834640"/>
              </a:tblGrid>
              <a:tr h="905256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 table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 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DEPARTMENT table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 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(PK)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DepartmentID (PK)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DepartmentName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Computing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Computing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Carol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D02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Business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STUDENT keeps DepartmentID as a foreign key. The department name is stored once in DEPARTMENT.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Higher normal forms: BCNF, 4NF and 5NF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BCNF (Boyce–Codd Normal Form): a stricter version of 3NF. Every determinant of a non-trivial functional dependency should be a candidate key.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4NF (Fourth Normal Form): deals with independent multi-valued facts that should not be stored together in one table.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5NF (Fifth Normal Form): deals with more complex join dependencies where a table can be split into smaller tables and correctly rebuilt by joining them.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They exist for complicated designs where 1NF–3NF may not remove every kind of redundancy.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For many everyday databases, 3NF is a useful target; higher forms are applied when the data rules require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Practical example: university registration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Imagine a university recording students, courses, lecturers and grades.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 poorly designed sheet might store student details, course details and grades together in one large table.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This causes repeated names and course titles, and changes can create inconsistencies.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We will improve the design step by step: first 1NF, then 2NF, then 3NF.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The example is simplified for learning; a real university may need extra tables and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Starting point: a poorly designed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PRACTICAL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5156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2926080"/>
                <a:gridCol w="2103120"/>
                <a:gridCol w="2194560"/>
              </a:tblGrid>
              <a:tr h="113157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StudentID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Courses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Lecturer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Department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Databases; Networking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Mr. Okello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Computing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Databases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Mr. Okello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Computing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Carol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Accounting; Business Law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Ms. Nambi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Business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Problems: multiple courses in one cell, repeated lecturer/department details, and unclear links between each course and lecturer.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Step 1: convert the example to 1NF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PRACTICAL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8595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743200"/>
                <a:gridCol w="3931920"/>
              </a:tblGrid>
              <a:tr h="75438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StudentID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Course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Databases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Networking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Databases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Carol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Accounting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Carol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Business Law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Now each cell has one value. The same student name still appears more than once, so continue to 2NF.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Step 2: organise the data into 2NF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PRACTICAL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9784080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  <a:gridCol w="2743200"/>
                <a:gridCol w="274320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 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REGISTRATION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 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(PK)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StudentName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(PK/FK)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CourseID (PK/FK)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Amina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C10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Brian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C20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Carol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C10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C30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S03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C40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STUDENT stores each student's details once. REGISTRATION connects a student to a course. COURSE details will be stored separately.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Step 3: reach a 3NF-style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PRACTICAL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5156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3931920"/>
              </a:tblGrid>
              <a:tr h="7543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 attributes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(PK), StudentName, DepartmentID (FK)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Stores each student's details.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DEPARTMENT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DepartmentID (PK), DepartmentName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Stores department names once.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COURSE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CourseID (PK), CourseTitle, LecturerID (FK)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Stores course details and lecturer link.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LECTURER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LecturerID (PK), LecturerName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Stores lecturer details once.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REGISTRATION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StudentID (PK/FK), CourseID (PK/FK), Grade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Records enrolment and the student's grade.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Keys connect the tables. The design reduces repeated facts and makes updates safer.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What is a database constraint?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 constraint is a rule the database checks before accepting data.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Constraints help stop missing, duplicate, unrelated or unreasonable values from being stored.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For example, a student ID should not be duplicated, and a registration should not refer to a student who does not exist.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They protect data integrity—the idea that stored data should remain valid and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PRIMARY KEY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primary key uniquely identifies each row in a table.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It must be unique and cannot be NULL (empty or unknown).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table has one primary key constraint, but the key can contain more than one column.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Example: StudentID can identify one student, even when two students have the same name.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It helps the database find the correct row and lets other tables refer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PRIMARY KEY: SQL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88136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C"/>
                </a:solidFill>
                <a:latin typeface="Aptos"/>
              </a:defRPr>
            </a:pPr>
            <a:r>
              <a:t>StudentID identifies each student. The database rejects duplicate IDs and NULL 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10744200" cy="3566160"/>
          </a:xfrm>
          <a:prstGeom prst="round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>
                <a:solidFill>
                  <a:srgbClr val="E2F1FF"/>
                </a:solidFill>
                <a:latin typeface="Consolas"/>
              </a:defRPr>
            </a:pPr>
            <a:r>
              <a:t>CREATE TABLE Student (</a:t>
            </a:r>
            <a:br/>
            <a:r>
              <a:t>    StudentID INT PRIMARY KEY,</a:t>
            </a:r>
            <a:br/>
            <a:r>
              <a:t>    StudentName VARCHAR(100) NOT NULL,</a:t>
            </a:r>
            <a:br/>
            <a:r>
              <a:t>    Course VARCHAR(80)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FOREIGN KEY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foreign key is a column (or group of columns) that refers to a key in another table.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It creates a link between related tables.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Referential integrity means a reference must point to an existing row, unless the design allows NULL.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Example: Registration.StudentID should match a Student.StudentID.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This helps prevent registrations for students who are not in the Student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FOREIGN KEY: SQL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88136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C"/>
                </a:solidFill>
                <a:latin typeface="Aptos"/>
              </a:defRPr>
            </a:pPr>
            <a:r>
              <a:t>The Registration table can only refer to students that exist in the Student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10744200" cy="3566160"/>
          </a:xfrm>
          <a:prstGeom prst="round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>
                <a:solidFill>
                  <a:srgbClr val="E2F1FF"/>
                </a:solidFill>
                <a:latin typeface="Consolas"/>
              </a:defRPr>
            </a:pPr>
            <a:r>
              <a:t>CREATE TABLE Registration (</a:t>
            </a:r>
            <a:br/>
            <a:r>
              <a:t>    RegistrationID INT PRIMARY KEY,</a:t>
            </a:r>
            <a:br/>
            <a:r>
              <a:t>    StudentID INT NOT NULL,</a:t>
            </a:r>
            <a:br/>
            <a:r>
              <a:t>    CourseName VARCHAR(80) NOT NULL,</a:t>
            </a:r>
            <a:br/>
            <a:r>
              <a:t>    FOREIGN KEY (StudentID)</a:t>
            </a:r>
            <a:br/>
            <a:r>
              <a:t>        REFERENCES Student(StudentID)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UNIQUE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UNIQUE prevents two rows from having the same value in the specified column or column combination.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It is useful for values such as an email address or national student number.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primary key is always unique and not NULL; UNIQUE is used for other values that must not be repeated.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table can have multiple UNIQUE constraints.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How a database handles NULL values in a UNIQUE column can differ by database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UNIQUE: SQL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88136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C"/>
                </a:solidFill>
                <a:latin typeface="Aptos"/>
              </a:defRPr>
            </a:pPr>
            <a:r>
              <a:t>This rule stops two student records from using the same email address.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10744200" cy="3566160"/>
          </a:xfrm>
          <a:prstGeom prst="round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>
                <a:solidFill>
                  <a:srgbClr val="E2F1FF"/>
                </a:solidFill>
                <a:latin typeface="Consolas"/>
              </a:defRPr>
            </a:pPr>
            <a:r>
              <a:t>CREATE TABLE StudentContact (</a:t>
            </a:r>
            <a:br/>
            <a:r>
              <a:t>    StudentID INT PRIMARY KEY,</a:t>
            </a:r>
            <a:br/>
            <a:r>
              <a:t>    Email VARCHAR(120) UNIQUE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NOT NULL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NOT NULL means a column must have a value; it cannot be left NULL.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Use it for information that is required, such as a student's name or a course title.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It does not stop an empty text string in every database system, so extra validation may still be needed.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Choose NOT NULL only for details that really are compulsory.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NOT NULL: SQL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88136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C"/>
                </a:solidFill>
                <a:latin typeface="Aptos"/>
              </a:defRPr>
            </a:pPr>
            <a:r>
              <a:t>StudentName must be provided when a student record is inserted.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10744200" cy="3566160"/>
          </a:xfrm>
          <a:prstGeom prst="round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>
                <a:solidFill>
                  <a:srgbClr val="E2F1FF"/>
                </a:solidFill>
                <a:latin typeface="Consolas"/>
              </a:defRPr>
            </a:pPr>
            <a:r>
              <a:t>CREATE TABLE Student (</a:t>
            </a:r>
            <a:br/>
            <a:r>
              <a:t>    StudentID INT PRIMARY KEY,</a:t>
            </a:r>
            <a:br/>
            <a:r>
              <a:t>    StudentName VARCHAR(100) NOT NULL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CHECK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CHECK tests whether a value meets a condition.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For example, salary should not be negative, and a mark should be between 0 and 100.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If the condition is false, the database rejects the row or update.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CHECK rules are useful for simple business rules, but they do not replace all application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CHECK: SQL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88136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C"/>
                </a:solidFill>
                <a:latin typeface="Aptos"/>
              </a:defRPr>
            </a:pPr>
            <a:r>
              <a:t>The database only accepts salaries that are zero or greater.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10744200" cy="3566160"/>
          </a:xfrm>
          <a:prstGeom prst="round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>
                <a:solidFill>
                  <a:srgbClr val="E2F1FF"/>
                </a:solidFill>
                <a:latin typeface="Consolas"/>
              </a:defRPr>
            </a:pPr>
            <a:r>
              <a:t>CREATE TABLE Employee (</a:t>
            </a:r>
            <a:br/>
            <a:r>
              <a:t>    EmployeeID INT PRIMARY KEY,</a:t>
            </a:r>
            <a:br/>
            <a:r>
              <a:t>    EmployeeName VARCHAR(100) NOT NULL,</a:t>
            </a:r>
            <a:br/>
            <a:r>
              <a:t>    Salary DECIMAL(10,2) CHECK (Salary &gt;= 0)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DEFAULT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DEFAULT supplies a value automatically when an INSERT statement does not provide one.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It is useful for common starting values, such as a new account status of 'Active'.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A default is not the same as a rule that forces a particular value in every situation.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If a user explicitly supplies a value, the default normally is not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DEFAULT: SQL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88136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C"/>
                </a:solidFill>
                <a:latin typeface="Aptos"/>
              </a:defRPr>
            </a:pPr>
            <a:r>
              <a:t>If Status is omitted during insertion, the database uses 'Active'.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10744200" cy="3566160"/>
          </a:xfrm>
          <a:prstGeom prst="round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>
                <a:solidFill>
                  <a:srgbClr val="E2F1FF"/>
                </a:solidFill>
                <a:latin typeface="Consolas"/>
              </a:defRPr>
            </a:pPr>
            <a:r>
              <a:t>CREATE TABLE Account (</a:t>
            </a:r>
            <a:br/>
            <a:r>
              <a:t>    AccountID INT PRIMARY KEY,</a:t>
            </a:r>
            <a:br/>
            <a:r>
              <a:t>    OwnerName VARCHAR(100) NOT NULL,</a:t>
            </a:r>
            <a:br/>
            <a:r>
              <a:t>    Status VARCHAR(20) DEFAULT 'Active'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Combining several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88136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C"/>
                </a:solidFill>
                <a:latin typeface="Aptos"/>
              </a:defRPr>
            </a:pPr>
            <a:r>
              <a:t>This example combines six constraints to protect an employee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10744200" cy="3566160"/>
          </a:xfrm>
          <a:prstGeom prst="round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>
                <a:solidFill>
                  <a:srgbClr val="E2F1FF"/>
                </a:solidFill>
                <a:latin typeface="Consolas"/>
              </a:defRPr>
            </a:pPr>
            <a:r>
              <a:t>CREATE TABLE Employee (</a:t>
            </a:r>
            <a:br/>
            <a:r>
              <a:t>    EmployeeID INT PRIMARY KEY,</a:t>
            </a:r>
            <a:br/>
            <a:r>
              <a:t>    FullName VARCHAR(100) NOT NULL,</a:t>
            </a:r>
            <a:br/>
            <a:r>
              <a:t>    Email VARCHAR(120) UNIQUE,</a:t>
            </a:r>
            <a:br/>
            <a:r>
              <a:t>    Salary DECIMAL(10,2) CHECK (Salary &gt;= 0),</a:t>
            </a:r>
            <a:br/>
            <a:r>
              <a:t>    DepartmentID INT,</a:t>
            </a:r>
            <a:br/>
            <a:r>
              <a:t>    Status VARCHAR(20) DEFAULT 'Active',</a:t>
            </a:r>
            <a:br/>
            <a:r>
              <a:t>    FOREIGN KEY (DepartmentID)</a:t>
            </a:r>
            <a:br/>
            <a:r>
              <a:t>        REFERENCES Department(DepartmentID)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What each combined constraint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PART 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515600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30352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Constraint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Column/example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PRIMARY KEY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EmployeeID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Gives every employee a unique identity.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NOT NULL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FullName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Requires the employee's name.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UNIQUE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Email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Prevents duplicate email addresses.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Salary &gt;= 0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Rejects negative salaries.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DEFAULT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Status = 'Active'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Adds Active when no status is supplied.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FOREIGN KEY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DepartmentID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Links the employee to an existing department.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Normalisation vs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698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97680"/>
                <a:gridCol w="4114800"/>
              </a:tblGrid>
              <a:tr h="905256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Normalisation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Constraints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Main problem solved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Poor structure and unnecessary repetition.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Invalid values and broken data rules.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How it works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Splits information into well-related tables.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Checks rules when data is inserted or changed.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Store department name once in DEPARTMENT.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Require a valid DepartmentID with a foreign key.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Main benefit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Fewer anomalies and easier maintenance.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More accurate and consistent data.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How normalisation and constraints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 well-normalised database can still contain invalid data.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For example, tables may be organised perfectly but still accept a negative salary if no CHECK rule exists.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Normalisation decides where facts should be stored and how tables should relate.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Constraints enforce important rules about the values and relationships in those tables.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 good database designer uses both: a clear structure plus rules that protect the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Normalisation reduces repeated data and helps prevent insertion, update and deletion anomalies.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1NF: one value per cell. 2NF: no partial dependency on part of a composite key. 3NF: no transitive dependency of non-key attributes.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BCNF, 4NF and 5NF handle more complex dependency problems.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Constraints such as PRIMARY KEY, FOREIGN KEY, UNIQUE, NOT NULL, CHECK and DEFAULT enforce data rules.</a:t>
            </a:r>
          </a:p>
          <a:p>
            <a:pPr>
              <a:spcAft>
                <a:spcPts val="1000"/>
              </a:spcAft>
              <a:defRPr sz="1900">
                <a:solidFill>
                  <a:srgbClr val="26303C"/>
                </a:solidFill>
                <a:latin typeface="Aptos"/>
              </a:defRPr>
            </a:pPr>
            <a:r>
              <a:t>•  Normalisation and constraints are different, but both are important for a reliable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Questions and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•  Why can repeating the same fact in many rows cause problems?</a:t>
            </a:r>
          </a:p>
          <a:p>
            <a:pPr>
              <a:spcAft>
                <a:spcPts val="10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•  What is the difference between a primary key and a foreign key?</a:t>
            </a:r>
          </a:p>
          <a:p>
            <a:pPr>
              <a:spcAft>
                <a:spcPts val="10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•  Can a database be in 3NF and still contain invalid values? Why?</a:t>
            </a:r>
          </a:p>
          <a:p>
            <a:pPr>
              <a:spcAft>
                <a:spcPts val="1000"/>
              </a:spcAft>
              <a:defRPr sz="2100">
                <a:solidFill>
                  <a:srgbClr val="26303C"/>
                </a:solidFill>
                <a:latin typeface="Aptos"/>
              </a:defRPr>
            </a:pPr>
            <a:r>
              <a:t>•  Which constraint would you use to stop a negative employee salary?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B8C8A"/>
                </a:solidFill>
                <a:latin typeface="Aptos"/>
              </a:defRPr>
            </a:pPr>
            <a:r>
              <a:t>Thank you. We welcome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Library research record — complete after visiting UCU Library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RESEARCH REQUIREMENT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53312"/>
          <a:ext cx="105156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3657600"/>
                <a:gridCol w="1828800"/>
                <a:gridCol w="2468880"/>
              </a:tblGrid>
              <a:tr h="113157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No.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Author(s)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Book title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Edition / year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Relevant chapter / pages</a:t>
                      </a:r>
                    </a:p>
                  </a:txBody>
                  <a:tcPr marL="64008" marR="64008" marT="36576" marB="27432" anchor="ctr">
                    <a:solidFill>
                      <a:srgbClr val="162B4D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64008" marR="64008" marT="36576" marB="27432" anchor="ctr">
                    <a:solidFill>
                      <a:srgbClr val="F7FAFC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64008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B8C8A"/>
                </a:solidFill>
                <a:latin typeface="Aptos"/>
              </a:defRPr>
            </a:pPr>
            <a:r>
              <a:t>Important: enter the exact editions and page numbers of the books your group actually consults in the university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900" b="1">
                <a:solidFill>
                  <a:srgbClr val="162B4D"/>
                </a:solidFill>
                <a:latin typeface="Aptos"/>
              </a:defRPr>
            </a:pPr>
            <a:r>
              <a:t>Suggested textbooks to look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64008"/>
          </a:xfrm>
          <a:prstGeom prst="rect">
            <a:avLst/>
          </a:prstGeom>
          <a:solidFill>
            <a:srgbClr val="1B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1B8C8A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846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t>•  Connolly, T. and Begg, C. — Database Systems: A Practical Approach to Design, Implementation, and Management.</a:t>
            </a:r>
          </a:p>
          <a:p>
            <a:pPr>
              <a:spcAft>
                <a:spcPts val="10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t>•  Silberschatz, A., Korth, H. F. and Sudarshan, S. — Database System Concepts.</a:t>
            </a:r>
          </a:p>
          <a:p>
            <a:pPr>
              <a:spcAft>
                <a:spcPts val="10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t>•  Elmasri, R. and Navathe, S. B. — Fundamentals of Database Systems.</a:t>
            </a:r>
          </a:p>
          <a:p>
            <a:pPr>
              <a:spcAft>
                <a:spcPts val="10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t>•  Ramakrishnan, R. and Gehrke, J. — Database Management Systems.</a:t>
            </a:r>
          </a:p>
          <a:p>
            <a:pPr>
              <a:spcAft>
                <a:spcPts val="10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t>•  Record the edition, year, and pages from the actual library copies. Do not guess these details.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636E7B"/>
                </a:solidFill>
                <a:latin typeface="Aptos"/>
              </a:defRPr>
            </a:pPr>
            <a:r>
              <a:t>DATABASE NORMALISATION &amp; CONSTRAINTS  •  GROUP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636E7B"/>
                </a:solidFill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Normalisation and Database Constraints</dc:title>
  <dc:subject>Group presentation for Database Management Systems</dc:subject>
  <dc:creator>Student Group</dc:creator>
  <cp:keywords>database, normalisation, constraints, SQL, 1NF, 2NF, 3NF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